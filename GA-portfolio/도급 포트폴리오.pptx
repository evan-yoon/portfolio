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24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7" autoAdjust="0"/>
    <p:restoredTop sz="94660"/>
  </p:normalViewPr>
  <p:slideViewPr>
    <p:cSldViewPr snapToGrid="0">
      <p:cViewPr varScale="1">
        <p:scale>
          <a:sx n="77" d="100"/>
          <a:sy n="77" d="100"/>
        </p:scale>
        <p:origin x="55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612B80-BCD4-4039-B089-BF7F53F3B62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D4DCEE20-4A49-4D23-88DC-D0D728625238}">
      <dgm:prSet phldrT="[텍스트]" custT="1"/>
      <dgm:spPr/>
      <dgm:t>
        <a:bodyPr/>
        <a:lstStyle/>
        <a:p>
          <a:pPr latinLnBrk="1"/>
          <a:r>
            <a:rPr lang="en-US" altLang="ko-KR" sz="2000" dirty="0"/>
            <a:t>1.  </a:t>
          </a:r>
          <a:r>
            <a:rPr lang="ko-KR" altLang="en-US" sz="2000" dirty="0"/>
            <a:t>불법파견 및 위장도급 리스크 재점검</a:t>
          </a:r>
          <a:r>
            <a:rPr lang="en-US" altLang="ko-KR" sz="2000" dirty="0"/>
            <a:t> </a:t>
          </a:r>
          <a:endParaRPr lang="ko-KR" altLang="en-US" sz="2000" dirty="0"/>
        </a:p>
      </dgm:t>
    </dgm:pt>
    <dgm:pt modelId="{38973828-B4F0-4085-8853-3126B971A9DA}" type="parTrans" cxnId="{67642277-1643-46A3-B6F7-8F055EFA8995}">
      <dgm:prSet/>
      <dgm:spPr/>
      <dgm:t>
        <a:bodyPr/>
        <a:lstStyle/>
        <a:p>
          <a:pPr latinLnBrk="1"/>
          <a:endParaRPr lang="ko-KR" altLang="en-US"/>
        </a:p>
      </dgm:t>
    </dgm:pt>
    <dgm:pt modelId="{E1B56E2E-E792-4092-A4F8-59A606A5A3FB}" type="sibTrans" cxnId="{67642277-1643-46A3-B6F7-8F055EFA8995}">
      <dgm:prSet/>
      <dgm:spPr/>
      <dgm:t>
        <a:bodyPr/>
        <a:lstStyle/>
        <a:p>
          <a:pPr latinLnBrk="1"/>
          <a:endParaRPr lang="ko-KR" altLang="en-US"/>
        </a:p>
      </dgm:t>
    </dgm:pt>
    <dgm:pt modelId="{629546B6-3EDC-4FA6-9BB0-1331EE9D66BD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bg1"/>
              </a:solidFill>
            </a:rPr>
            <a:t>전 도급 운영 재점검하여 리스크 최소화</a:t>
          </a:r>
        </a:p>
      </dgm:t>
    </dgm:pt>
    <dgm:pt modelId="{DA55F006-9A60-46E3-B4F2-4049C57F272D}" type="parTrans" cxnId="{73BEE420-1D9A-4734-9C3D-7C2DBE2F7156}">
      <dgm:prSet/>
      <dgm:spPr/>
      <dgm:t>
        <a:bodyPr/>
        <a:lstStyle/>
        <a:p>
          <a:pPr latinLnBrk="1"/>
          <a:endParaRPr lang="ko-KR" altLang="en-US"/>
        </a:p>
      </dgm:t>
    </dgm:pt>
    <dgm:pt modelId="{7B8EF599-FF6C-4467-A655-161A7FD6918F}" type="sibTrans" cxnId="{73BEE420-1D9A-4734-9C3D-7C2DBE2F7156}">
      <dgm:prSet/>
      <dgm:spPr/>
      <dgm:t>
        <a:bodyPr/>
        <a:lstStyle/>
        <a:p>
          <a:pPr latinLnBrk="1"/>
          <a:endParaRPr lang="ko-KR" altLang="en-US"/>
        </a:p>
      </dgm:t>
    </dgm:pt>
    <dgm:pt modelId="{F7B5E185-670D-4D63-9441-76E1704ACC95}">
      <dgm:prSet phldrT="[텍스트]" custT="1"/>
      <dgm:spPr/>
      <dgm:t>
        <a:bodyPr/>
        <a:lstStyle/>
        <a:p>
          <a:pPr latinLnBrk="1"/>
          <a:r>
            <a:rPr lang="en-US" altLang="ko-KR" sz="2000" dirty="0"/>
            <a:t>2.  </a:t>
          </a:r>
          <a:r>
            <a:rPr lang="ko-KR" altLang="en-US" sz="2000" dirty="0"/>
            <a:t>사내하도급 근로자지위확인 소송 관리</a:t>
          </a:r>
        </a:p>
      </dgm:t>
    </dgm:pt>
    <dgm:pt modelId="{4398415C-84C5-445C-B008-2A7FC45CD6B6}" type="parTrans" cxnId="{3E720A9A-95AE-42FC-997F-1DF6966080D7}">
      <dgm:prSet/>
      <dgm:spPr/>
      <dgm:t>
        <a:bodyPr/>
        <a:lstStyle/>
        <a:p>
          <a:pPr latinLnBrk="1"/>
          <a:endParaRPr lang="ko-KR" altLang="en-US"/>
        </a:p>
      </dgm:t>
    </dgm:pt>
    <dgm:pt modelId="{F5F81867-70C4-42B8-8E24-7ECBFCF5F560}" type="sibTrans" cxnId="{3E720A9A-95AE-42FC-997F-1DF6966080D7}">
      <dgm:prSet/>
      <dgm:spPr/>
      <dgm:t>
        <a:bodyPr/>
        <a:lstStyle/>
        <a:p>
          <a:pPr latinLnBrk="1"/>
          <a:endParaRPr lang="ko-KR" altLang="en-US"/>
        </a:p>
      </dgm:t>
    </dgm:pt>
    <dgm:pt modelId="{3085E621-9BBE-4203-B989-4B57FCC7370B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bg1"/>
              </a:solidFill>
            </a:rPr>
            <a:t>진행중인 소송 건 마무리 될 수 있도록 관리</a:t>
          </a:r>
        </a:p>
      </dgm:t>
    </dgm:pt>
    <dgm:pt modelId="{6235E7D4-7315-4B37-8996-950201E7B538}" type="parTrans" cxnId="{73B7F6F3-1C40-4D0E-9088-2A4B212DF3EA}">
      <dgm:prSet/>
      <dgm:spPr/>
      <dgm:t>
        <a:bodyPr/>
        <a:lstStyle/>
        <a:p>
          <a:pPr latinLnBrk="1"/>
          <a:endParaRPr lang="ko-KR" altLang="en-US"/>
        </a:p>
      </dgm:t>
    </dgm:pt>
    <dgm:pt modelId="{9855BD14-9F32-458B-9684-86078236E13E}" type="sibTrans" cxnId="{73B7F6F3-1C40-4D0E-9088-2A4B212DF3EA}">
      <dgm:prSet/>
      <dgm:spPr/>
      <dgm:t>
        <a:bodyPr/>
        <a:lstStyle/>
        <a:p>
          <a:pPr latinLnBrk="1"/>
          <a:endParaRPr lang="ko-KR" altLang="en-US"/>
        </a:p>
      </dgm:t>
    </dgm:pt>
    <dgm:pt modelId="{B36CA541-7AD4-498F-B4DC-D694AABD2028}">
      <dgm:prSet phldrT="[텍스트]" custT="1"/>
      <dgm:spPr/>
      <dgm:t>
        <a:bodyPr/>
        <a:lstStyle/>
        <a:p>
          <a:pPr latinLnBrk="1"/>
          <a:r>
            <a:rPr lang="ko-KR" altLang="en-US" sz="1800" dirty="0">
              <a:solidFill>
                <a:schemeClr val="bg1"/>
              </a:solidFill>
            </a:rPr>
            <a:t>자기주도형 성장</a:t>
          </a:r>
          <a:r>
            <a:rPr lang="en-US" altLang="ko-KR" sz="1800" dirty="0">
              <a:solidFill>
                <a:schemeClr val="bg1"/>
              </a:solidFill>
            </a:rPr>
            <a:t>(</a:t>
          </a:r>
          <a:r>
            <a:rPr lang="ko-KR" altLang="en-US" sz="1800" dirty="0">
              <a:solidFill>
                <a:schemeClr val="bg1"/>
              </a:solidFill>
            </a:rPr>
            <a:t>노무사 시험 준비</a:t>
          </a:r>
          <a:r>
            <a:rPr lang="en-US" altLang="ko-KR" sz="1800" dirty="0">
              <a:solidFill>
                <a:schemeClr val="bg1"/>
              </a:solidFill>
            </a:rPr>
            <a:t>)</a:t>
          </a:r>
          <a:endParaRPr lang="ko-KR" altLang="en-US" sz="1800" dirty="0">
            <a:solidFill>
              <a:schemeClr val="bg1"/>
            </a:solidFill>
          </a:endParaRPr>
        </a:p>
      </dgm:t>
    </dgm:pt>
    <dgm:pt modelId="{D865DCB6-1615-4B3A-A265-2A7F63046E4E}" type="parTrans" cxnId="{D27356C7-2E30-4E40-BCEE-0F5D7862A097}">
      <dgm:prSet/>
      <dgm:spPr/>
      <dgm:t>
        <a:bodyPr/>
        <a:lstStyle/>
        <a:p>
          <a:pPr latinLnBrk="1"/>
          <a:endParaRPr lang="ko-KR" altLang="en-US"/>
        </a:p>
      </dgm:t>
    </dgm:pt>
    <dgm:pt modelId="{6BE0441C-89FE-44B4-95B5-0968F83840A6}" type="sibTrans" cxnId="{D27356C7-2E30-4E40-BCEE-0F5D7862A097}">
      <dgm:prSet/>
      <dgm:spPr/>
      <dgm:t>
        <a:bodyPr/>
        <a:lstStyle/>
        <a:p>
          <a:pPr latinLnBrk="1"/>
          <a:endParaRPr lang="ko-KR" altLang="en-US"/>
        </a:p>
      </dgm:t>
    </dgm:pt>
    <dgm:pt modelId="{85957633-FB44-4DFE-B7B4-609BEB69B91B}">
      <dgm:prSet phldrT="[텍스트]" custT="1"/>
      <dgm:spPr/>
      <dgm:t>
        <a:bodyPr/>
        <a:lstStyle/>
        <a:p>
          <a:pPr latinLnBrk="1"/>
          <a:r>
            <a:rPr lang="en-US" altLang="ko-KR" sz="2000" dirty="0"/>
            <a:t>3.  </a:t>
          </a:r>
          <a:r>
            <a:rPr lang="ko-KR" altLang="en-US" sz="2000" dirty="0"/>
            <a:t>노무 전문가로 성장</a:t>
          </a:r>
        </a:p>
      </dgm:t>
    </dgm:pt>
    <dgm:pt modelId="{0664D6B2-A66C-4724-A082-00851850D468}" type="parTrans" cxnId="{25E8772C-A8E2-46EC-839A-368883814AA0}">
      <dgm:prSet/>
      <dgm:spPr/>
      <dgm:t>
        <a:bodyPr/>
        <a:lstStyle/>
        <a:p>
          <a:pPr latinLnBrk="1"/>
          <a:endParaRPr lang="ko-KR" altLang="en-US"/>
        </a:p>
      </dgm:t>
    </dgm:pt>
    <dgm:pt modelId="{37BC8F7A-CF58-4D84-81AD-2E620CE5725E}" type="sibTrans" cxnId="{25E8772C-A8E2-46EC-839A-368883814AA0}">
      <dgm:prSet/>
      <dgm:spPr/>
      <dgm:t>
        <a:bodyPr/>
        <a:lstStyle/>
        <a:p>
          <a:pPr latinLnBrk="1"/>
          <a:endParaRPr lang="ko-KR" altLang="en-US"/>
        </a:p>
      </dgm:t>
    </dgm:pt>
    <dgm:pt modelId="{0B1FA91B-F7A1-4319-A9AB-CFD7919889F4}" type="pres">
      <dgm:prSet presAssocID="{2C612B80-BCD4-4039-B089-BF7F53F3B625}" presName="linear" presStyleCnt="0">
        <dgm:presLayoutVars>
          <dgm:animLvl val="lvl"/>
          <dgm:resizeHandles val="exact"/>
        </dgm:presLayoutVars>
      </dgm:prSet>
      <dgm:spPr/>
    </dgm:pt>
    <dgm:pt modelId="{FEA069F4-6A19-40C1-8305-DDA0A534362C}" type="pres">
      <dgm:prSet presAssocID="{D4DCEE20-4A49-4D23-88DC-D0D728625238}" presName="parentText" presStyleLbl="node1" presStyleIdx="0" presStyleCnt="3" custScaleX="100000" custLinFactNeighborX="-8134" custLinFactNeighborY="-1704">
        <dgm:presLayoutVars>
          <dgm:chMax val="0"/>
          <dgm:bulletEnabled val="1"/>
        </dgm:presLayoutVars>
      </dgm:prSet>
      <dgm:spPr/>
    </dgm:pt>
    <dgm:pt modelId="{73C469F1-9996-4BDF-993C-7D4027AC78CD}" type="pres">
      <dgm:prSet presAssocID="{D4DCEE20-4A49-4D23-88DC-D0D728625238}" presName="childText" presStyleLbl="revTx" presStyleIdx="0" presStyleCnt="3">
        <dgm:presLayoutVars>
          <dgm:bulletEnabled val="1"/>
        </dgm:presLayoutVars>
      </dgm:prSet>
      <dgm:spPr/>
    </dgm:pt>
    <dgm:pt modelId="{B547494A-C857-412A-B56D-87CA684B5731}" type="pres">
      <dgm:prSet presAssocID="{F7B5E185-670D-4D63-9441-76E1704ACC95}" presName="parentText" presStyleLbl="node1" presStyleIdx="1" presStyleCnt="3" custScaleX="100000" custLinFactNeighborX="-8134" custLinFactNeighborY="-2807">
        <dgm:presLayoutVars>
          <dgm:chMax val="0"/>
          <dgm:bulletEnabled val="1"/>
        </dgm:presLayoutVars>
      </dgm:prSet>
      <dgm:spPr/>
    </dgm:pt>
    <dgm:pt modelId="{73772C62-F14F-4628-ACED-17FAF16A4B67}" type="pres">
      <dgm:prSet presAssocID="{F7B5E185-670D-4D63-9441-76E1704ACC95}" presName="childText" presStyleLbl="revTx" presStyleIdx="1" presStyleCnt="3">
        <dgm:presLayoutVars>
          <dgm:bulletEnabled val="1"/>
        </dgm:presLayoutVars>
      </dgm:prSet>
      <dgm:spPr/>
    </dgm:pt>
    <dgm:pt modelId="{B825656C-FD73-4C36-B635-4BD19C4BB038}" type="pres">
      <dgm:prSet presAssocID="{85957633-FB44-4DFE-B7B4-609BEB69B91B}" presName="parentText" presStyleLbl="node1" presStyleIdx="2" presStyleCnt="3" custScaleX="100000" custLinFactNeighborX="-4258">
        <dgm:presLayoutVars>
          <dgm:chMax val="0"/>
          <dgm:bulletEnabled val="1"/>
        </dgm:presLayoutVars>
      </dgm:prSet>
      <dgm:spPr/>
    </dgm:pt>
    <dgm:pt modelId="{F1FF7344-C345-4DB9-9577-B9CE944B4499}" type="pres">
      <dgm:prSet presAssocID="{85957633-FB44-4DFE-B7B4-609BEB69B91B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7865D301-99BF-4178-8B44-B0B4A31435E7}" type="presOf" srcId="{629546B6-3EDC-4FA6-9BB0-1331EE9D66BD}" destId="{73C469F1-9996-4BDF-993C-7D4027AC78CD}" srcOrd="0" destOrd="0" presId="urn:microsoft.com/office/officeart/2005/8/layout/vList2"/>
    <dgm:cxn modelId="{AF12ED03-3CAA-4A30-B214-E2E09DCAAF6E}" type="presOf" srcId="{85957633-FB44-4DFE-B7B4-609BEB69B91B}" destId="{B825656C-FD73-4C36-B635-4BD19C4BB038}" srcOrd="0" destOrd="0" presId="urn:microsoft.com/office/officeart/2005/8/layout/vList2"/>
    <dgm:cxn modelId="{3618E319-DA1B-459B-9BDF-574F103E4E9F}" type="presOf" srcId="{D4DCEE20-4A49-4D23-88DC-D0D728625238}" destId="{FEA069F4-6A19-40C1-8305-DDA0A534362C}" srcOrd="0" destOrd="0" presId="urn:microsoft.com/office/officeart/2005/8/layout/vList2"/>
    <dgm:cxn modelId="{73BEE420-1D9A-4734-9C3D-7C2DBE2F7156}" srcId="{D4DCEE20-4A49-4D23-88DC-D0D728625238}" destId="{629546B6-3EDC-4FA6-9BB0-1331EE9D66BD}" srcOrd="0" destOrd="0" parTransId="{DA55F006-9A60-46E3-B4F2-4049C57F272D}" sibTransId="{7B8EF599-FF6C-4467-A655-161A7FD6918F}"/>
    <dgm:cxn modelId="{9E5C2624-98B5-452F-AFA8-CED02D7F3515}" type="presOf" srcId="{3085E621-9BBE-4203-B989-4B57FCC7370B}" destId="{73772C62-F14F-4628-ACED-17FAF16A4B67}" srcOrd="0" destOrd="0" presId="urn:microsoft.com/office/officeart/2005/8/layout/vList2"/>
    <dgm:cxn modelId="{25E8772C-A8E2-46EC-839A-368883814AA0}" srcId="{2C612B80-BCD4-4039-B089-BF7F53F3B625}" destId="{85957633-FB44-4DFE-B7B4-609BEB69B91B}" srcOrd="2" destOrd="0" parTransId="{0664D6B2-A66C-4724-A082-00851850D468}" sibTransId="{37BC8F7A-CF58-4D84-81AD-2E620CE5725E}"/>
    <dgm:cxn modelId="{06031E54-DE3A-4D33-BB1C-7DB10A5F7BE7}" type="presOf" srcId="{F7B5E185-670D-4D63-9441-76E1704ACC95}" destId="{B547494A-C857-412A-B56D-87CA684B5731}" srcOrd="0" destOrd="0" presId="urn:microsoft.com/office/officeart/2005/8/layout/vList2"/>
    <dgm:cxn modelId="{4F627755-9BE6-4280-8425-D305EFE7BDFC}" type="presOf" srcId="{2C612B80-BCD4-4039-B089-BF7F53F3B625}" destId="{0B1FA91B-F7A1-4319-A9AB-CFD7919889F4}" srcOrd="0" destOrd="0" presId="urn:microsoft.com/office/officeart/2005/8/layout/vList2"/>
    <dgm:cxn modelId="{67642277-1643-46A3-B6F7-8F055EFA8995}" srcId="{2C612B80-BCD4-4039-B089-BF7F53F3B625}" destId="{D4DCEE20-4A49-4D23-88DC-D0D728625238}" srcOrd="0" destOrd="0" parTransId="{38973828-B4F0-4085-8853-3126B971A9DA}" sibTransId="{E1B56E2E-E792-4092-A4F8-59A606A5A3FB}"/>
    <dgm:cxn modelId="{3E720A9A-95AE-42FC-997F-1DF6966080D7}" srcId="{2C612B80-BCD4-4039-B089-BF7F53F3B625}" destId="{F7B5E185-670D-4D63-9441-76E1704ACC95}" srcOrd="1" destOrd="0" parTransId="{4398415C-84C5-445C-B008-2A7FC45CD6B6}" sibTransId="{F5F81867-70C4-42B8-8E24-7ECBFCF5F560}"/>
    <dgm:cxn modelId="{D27356C7-2E30-4E40-BCEE-0F5D7862A097}" srcId="{85957633-FB44-4DFE-B7B4-609BEB69B91B}" destId="{B36CA541-7AD4-498F-B4DC-D694AABD2028}" srcOrd="0" destOrd="0" parTransId="{D865DCB6-1615-4B3A-A265-2A7F63046E4E}" sibTransId="{6BE0441C-89FE-44B4-95B5-0968F83840A6}"/>
    <dgm:cxn modelId="{70C5CEE6-49BA-4CEB-83E2-04E1184B48FB}" type="presOf" srcId="{B36CA541-7AD4-498F-B4DC-D694AABD2028}" destId="{F1FF7344-C345-4DB9-9577-B9CE944B4499}" srcOrd="0" destOrd="0" presId="urn:microsoft.com/office/officeart/2005/8/layout/vList2"/>
    <dgm:cxn modelId="{73B7F6F3-1C40-4D0E-9088-2A4B212DF3EA}" srcId="{F7B5E185-670D-4D63-9441-76E1704ACC95}" destId="{3085E621-9BBE-4203-B989-4B57FCC7370B}" srcOrd="0" destOrd="0" parTransId="{6235E7D4-7315-4B37-8996-950201E7B538}" sibTransId="{9855BD14-9F32-458B-9684-86078236E13E}"/>
    <dgm:cxn modelId="{E6C70BC0-8AB9-42EB-B254-56489A3144BB}" type="presParOf" srcId="{0B1FA91B-F7A1-4319-A9AB-CFD7919889F4}" destId="{FEA069F4-6A19-40C1-8305-DDA0A534362C}" srcOrd="0" destOrd="0" presId="urn:microsoft.com/office/officeart/2005/8/layout/vList2"/>
    <dgm:cxn modelId="{BD54218D-897D-4FDA-AEC6-78FEDA187730}" type="presParOf" srcId="{0B1FA91B-F7A1-4319-A9AB-CFD7919889F4}" destId="{73C469F1-9996-4BDF-993C-7D4027AC78CD}" srcOrd="1" destOrd="0" presId="urn:microsoft.com/office/officeart/2005/8/layout/vList2"/>
    <dgm:cxn modelId="{54896085-4EF5-4AA3-9B3F-914B5A67372C}" type="presParOf" srcId="{0B1FA91B-F7A1-4319-A9AB-CFD7919889F4}" destId="{B547494A-C857-412A-B56D-87CA684B5731}" srcOrd="2" destOrd="0" presId="urn:microsoft.com/office/officeart/2005/8/layout/vList2"/>
    <dgm:cxn modelId="{BC041FA1-92E7-4034-A709-D7C5082F000E}" type="presParOf" srcId="{0B1FA91B-F7A1-4319-A9AB-CFD7919889F4}" destId="{73772C62-F14F-4628-ACED-17FAF16A4B67}" srcOrd="3" destOrd="0" presId="urn:microsoft.com/office/officeart/2005/8/layout/vList2"/>
    <dgm:cxn modelId="{9E574DBF-76A0-4FF7-8664-15424D8D3FA3}" type="presParOf" srcId="{0B1FA91B-F7A1-4319-A9AB-CFD7919889F4}" destId="{B825656C-FD73-4C36-B635-4BD19C4BB038}" srcOrd="4" destOrd="0" presId="urn:microsoft.com/office/officeart/2005/8/layout/vList2"/>
    <dgm:cxn modelId="{D0244070-08CE-42A8-BA65-E76F6F240620}" type="presParOf" srcId="{0B1FA91B-F7A1-4319-A9AB-CFD7919889F4}" destId="{F1FF7344-C345-4DB9-9577-B9CE944B4499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069F4-6A19-40C1-8305-DDA0A534362C}">
      <dsp:nvSpPr>
        <dsp:cNvPr id="0" name=""/>
        <dsp:cNvSpPr/>
      </dsp:nvSpPr>
      <dsp:spPr>
        <a:xfrm>
          <a:off x="0" y="4369"/>
          <a:ext cx="5321920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1.  </a:t>
          </a:r>
          <a:r>
            <a:rPr lang="ko-KR" altLang="en-US" sz="2000" kern="1200" dirty="0"/>
            <a:t>불법파견 및 위장도급 리스크 재점검</a:t>
          </a:r>
          <a:r>
            <a:rPr lang="en-US" altLang="ko-KR" sz="2000" kern="1200" dirty="0"/>
            <a:t> </a:t>
          </a:r>
          <a:endParaRPr lang="ko-KR" altLang="en-US" sz="2000" kern="1200" dirty="0"/>
        </a:p>
      </dsp:txBody>
      <dsp:txXfrm>
        <a:off x="40209" y="44578"/>
        <a:ext cx="5241502" cy="743262"/>
      </dsp:txXfrm>
    </dsp:sp>
    <dsp:sp modelId="{73C469F1-9996-4BDF-993C-7D4027AC78CD}">
      <dsp:nvSpPr>
        <dsp:cNvPr id="0" name=""/>
        <dsp:cNvSpPr/>
      </dsp:nvSpPr>
      <dsp:spPr>
        <a:xfrm>
          <a:off x="0" y="840466"/>
          <a:ext cx="5321920" cy="72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1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800" kern="1200" dirty="0">
              <a:solidFill>
                <a:schemeClr val="bg1"/>
              </a:solidFill>
            </a:rPr>
            <a:t>전 도급 운영 재점검하여 리스크 최소화</a:t>
          </a:r>
        </a:p>
      </dsp:txBody>
      <dsp:txXfrm>
        <a:off x="0" y="840466"/>
        <a:ext cx="5321920" cy="728640"/>
      </dsp:txXfrm>
    </dsp:sp>
    <dsp:sp modelId="{B547494A-C857-412A-B56D-87CA684B5731}">
      <dsp:nvSpPr>
        <dsp:cNvPr id="0" name=""/>
        <dsp:cNvSpPr/>
      </dsp:nvSpPr>
      <dsp:spPr>
        <a:xfrm>
          <a:off x="0" y="1548653"/>
          <a:ext cx="5321920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2.  </a:t>
          </a:r>
          <a:r>
            <a:rPr lang="ko-KR" altLang="en-US" sz="2000" kern="1200" dirty="0"/>
            <a:t>사내하도급 근로자지위확인 소송 관리</a:t>
          </a:r>
        </a:p>
      </dsp:txBody>
      <dsp:txXfrm>
        <a:off x="40209" y="1588862"/>
        <a:ext cx="5241502" cy="743262"/>
      </dsp:txXfrm>
    </dsp:sp>
    <dsp:sp modelId="{73772C62-F14F-4628-ACED-17FAF16A4B67}">
      <dsp:nvSpPr>
        <dsp:cNvPr id="0" name=""/>
        <dsp:cNvSpPr/>
      </dsp:nvSpPr>
      <dsp:spPr>
        <a:xfrm>
          <a:off x="0" y="2392786"/>
          <a:ext cx="5321920" cy="72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1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800" kern="1200" dirty="0">
              <a:solidFill>
                <a:schemeClr val="bg1"/>
              </a:solidFill>
            </a:rPr>
            <a:t>진행중인 소송 건 마무리 될 수 있도록 관리</a:t>
          </a:r>
        </a:p>
      </dsp:txBody>
      <dsp:txXfrm>
        <a:off x="0" y="2392786"/>
        <a:ext cx="5321920" cy="728640"/>
      </dsp:txXfrm>
    </dsp:sp>
    <dsp:sp modelId="{B825656C-FD73-4C36-B635-4BD19C4BB038}">
      <dsp:nvSpPr>
        <dsp:cNvPr id="0" name=""/>
        <dsp:cNvSpPr/>
      </dsp:nvSpPr>
      <dsp:spPr>
        <a:xfrm>
          <a:off x="0" y="3121426"/>
          <a:ext cx="5321920" cy="823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000" kern="1200" dirty="0"/>
            <a:t>3.  </a:t>
          </a:r>
          <a:r>
            <a:rPr lang="ko-KR" altLang="en-US" sz="2000" kern="1200" dirty="0"/>
            <a:t>노무 전문가로 성장</a:t>
          </a:r>
        </a:p>
      </dsp:txBody>
      <dsp:txXfrm>
        <a:off x="40209" y="3161635"/>
        <a:ext cx="5241502" cy="743262"/>
      </dsp:txXfrm>
    </dsp:sp>
    <dsp:sp modelId="{F1FF7344-C345-4DB9-9577-B9CE944B4499}">
      <dsp:nvSpPr>
        <dsp:cNvPr id="0" name=""/>
        <dsp:cNvSpPr/>
      </dsp:nvSpPr>
      <dsp:spPr>
        <a:xfrm>
          <a:off x="0" y="3945106"/>
          <a:ext cx="5321920" cy="728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971" tIns="22860" rIns="128016" bIns="22860" numCol="1" spcCol="1270" anchor="t" anchorCtr="0">
          <a:noAutofit/>
        </a:bodyPr>
        <a:lstStyle/>
        <a:p>
          <a:pPr marL="171450" lvl="1" indent="-171450" algn="l" defTabSz="800100" latinLnBrk="1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ko-KR" altLang="en-US" sz="1800" kern="1200" dirty="0">
              <a:solidFill>
                <a:schemeClr val="bg1"/>
              </a:solidFill>
            </a:rPr>
            <a:t>자기주도형 성장</a:t>
          </a:r>
          <a:r>
            <a:rPr lang="en-US" altLang="ko-KR" sz="1800" kern="1200" dirty="0">
              <a:solidFill>
                <a:schemeClr val="bg1"/>
              </a:solidFill>
            </a:rPr>
            <a:t>(</a:t>
          </a:r>
          <a:r>
            <a:rPr lang="ko-KR" altLang="en-US" sz="1800" kern="1200" dirty="0">
              <a:solidFill>
                <a:schemeClr val="bg1"/>
              </a:solidFill>
            </a:rPr>
            <a:t>노무사 시험 준비</a:t>
          </a:r>
          <a:r>
            <a:rPr lang="en-US" altLang="ko-KR" sz="1800" kern="1200" dirty="0">
              <a:solidFill>
                <a:schemeClr val="bg1"/>
              </a:solidFill>
            </a:rPr>
            <a:t>)</a:t>
          </a:r>
          <a:endParaRPr lang="ko-KR" altLang="en-US" sz="1800" kern="1200" dirty="0">
            <a:solidFill>
              <a:schemeClr val="bg1"/>
            </a:solidFill>
          </a:endParaRPr>
        </a:p>
      </dsp:txBody>
      <dsp:txXfrm>
        <a:off x="0" y="3945106"/>
        <a:ext cx="5321920" cy="728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17DF59-B24A-47B6-B255-ABFEDA1755DF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B6399-96E0-45A9-BA93-5AC851C78A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3594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1BAD39-1ECF-7A06-2FB2-4960A510E0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7C62B2-7C01-7DC8-92C2-01E5DCD39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D526D5-AF5D-53E0-2C1B-688A0E09A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770952-030E-C176-6763-B6AE717C7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BEDF2B-9CCA-0895-C4FA-00A85489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10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EE5D21-C253-EA3E-99D3-91E6FB74A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FC23DE-2F6F-FD49-4274-5050AF950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A473ED-FD0A-F9F0-0ED0-1689B5B36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183594-5FAF-0EA6-AC59-EE36590E3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509048-E948-0C12-3EB3-EB7042346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887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8EB9E-499C-C463-74BC-AE6FA748D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DBA739-CF38-FADA-23ED-189AC7830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F60577-D436-C300-8533-4AABC1C0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A591FA-7646-F141-9AE2-578371D7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1E2D80-E8BE-B158-9978-D71DD0E5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56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2B7F3-8F37-B997-4A04-31FC96663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CB8903-7E97-951B-8A7F-C1FFAD17C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A403FE-66E6-7FEA-874C-C1D95A7194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51BBFF-8C8D-F180-0EA5-FDB1E47A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70F1F9-5D68-F460-B225-4525760D0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56E44E-871A-7427-0605-1F6CE6731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807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F86CA2-7B97-214E-79DE-2B5E22A67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AB08A2-1EAB-E287-7F80-F3C3B18EEA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CADBE1-0A95-D8A7-9AFB-D9BDBE7AA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059C056-89FE-6FF9-99C2-1179250EB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6A1C1D-6ACC-BC54-DDC9-89BEFA15FD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FEF6C3-618B-9AFE-6CCE-E163EEB1A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8C10AC-E172-739F-4BCF-A6166EAC8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797AAB2-B137-3F30-4769-7E9A443E8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075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647FB-D7AA-E9BA-B870-002A5AED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3E74552-B55F-8294-6029-8F6B14CA0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603F0B-1A69-ACCD-761A-F75F5F537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251A27-DF69-A132-542C-A83F560A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57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3F5384-3DEE-9093-D415-540F6D76A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5FD0A5-0D9F-ECB3-FF78-0DFE9679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A4265C-FB5A-2D3B-178B-96F08FE9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456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73A57-9F15-6651-020E-83DE12742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851066-44EE-F0EA-6631-77CB791E64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EE0A2A-D4DD-0E9F-330F-ABE1EBA20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AFBCDB-735A-80DB-B1BD-0CA91045E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CAF5D7-5B16-F2DC-BC28-B9D3A89F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5B2942-2F99-53D5-E995-B95B468A9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4438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AA7A00-7420-E77F-C937-C2B8D820C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3483175-7C8A-B332-B47A-87CCEC466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BF534FE-E9D0-2DF4-8808-70A84F4717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E8BC3B-AFA3-CC1C-B462-7001EF057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74E5FA-0E83-1348-DE18-917E26E1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B51017-A72A-0794-A942-938FF101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16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981D17-1F32-A457-3A21-2EA395A9E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E4906D-B486-77E2-EADC-4D58CB799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518C0C-98AC-D891-06A9-60069A17C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497C26-8F83-4772-0DDB-775DE9A7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8F8477-B768-B064-F15D-D514EBA72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1662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9BC6135-BF8A-BC54-FC66-1D4E523381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F573682-E630-FFE7-90A1-348EB2B2B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4354EC-0AEF-E01E-E816-25E5C484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4C0387-B399-0C96-1B2E-CB5EDEB1D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FB4B7B-C29F-A5C3-BA39-3775B7AB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1362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83DC053-0C52-EB8D-2E7D-832DCF5E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AC4C84-F967-CA61-334C-E262BF5EF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6198E9-7C95-1822-265C-9983EF713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BF96E-B83E-4445-8DA7-43E67AED207C}" type="datetimeFigureOut">
              <a:rPr lang="ko-KR" altLang="en-US" smtClean="0"/>
              <a:t>2025-06-17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C2C0AF-70CD-89EE-6584-C5C3CC582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2396B-C1A8-5C7C-2D85-A07E11E2E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D4B68-7645-4B37-A1C8-60D581D9E6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3839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4CBFC8-C1C0-F519-AB05-B9C14F9360DD}"/>
              </a:ext>
            </a:extLst>
          </p:cNvPr>
          <p:cNvSpPr txBox="1"/>
          <p:nvPr/>
        </p:nvSpPr>
        <p:spPr>
          <a:xfrm>
            <a:off x="535890" y="229121"/>
            <a:ext cx="8017677" cy="1763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윤지현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도급 기획 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&amp;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운영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FE0EB9E-1133-85BD-473E-C56188841613}"/>
              </a:ext>
            </a:extLst>
          </p:cNvPr>
          <p:cNvCxnSpPr>
            <a:cxnSpLocks/>
          </p:cNvCxnSpPr>
          <p:nvPr/>
        </p:nvCxnSpPr>
        <p:spPr>
          <a:xfrm>
            <a:off x="879209" y="4182531"/>
            <a:ext cx="1033498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BC1708F2-9DA2-5477-E559-A6B3EEFFA819}"/>
              </a:ext>
            </a:extLst>
          </p:cNvPr>
          <p:cNvSpPr/>
          <p:nvPr/>
        </p:nvSpPr>
        <p:spPr>
          <a:xfrm>
            <a:off x="757685" y="3993055"/>
            <a:ext cx="349959" cy="34995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1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950BFB-0C3B-CAE0-0140-1972CDF02B9B}"/>
              </a:ext>
            </a:extLst>
          </p:cNvPr>
          <p:cNvSpPr txBox="1"/>
          <p:nvPr/>
        </p:nvSpPr>
        <p:spPr>
          <a:xfrm>
            <a:off x="176311" y="3368480"/>
            <a:ext cx="1512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solidFill>
                  <a:prstClr val="white"/>
                </a:solidFill>
                <a:latin typeface="맑은 고딕" panose="02110004020202020204"/>
                <a:ea typeface="맑은 고딕" panose="020B0503020000020004" pitchFamily="50" charset="-127"/>
              </a:rPr>
              <a:t>강점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23FF9-0699-35AF-070B-6CB91A703E2E}"/>
              </a:ext>
            </a:extLst>
          </p:cNvPr>
          <p:cNvSpPr txBox="1"/>
          <p:nvPr/>
        </p:nvSpPr>
        <p:spPr>
          <a:xfrm>
            <a:off x="2942088" y="2812431"/>
            <a:ext cx="2311569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성과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1.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도급 </a:t>
            </a:r>
            <a:r>
              <a:rPr lang="ko-KR" altLang="en-US" sz="2000" dirty="0">
                <a:solidFill>
                  <a:prstClr val="white"/>
                </a:solidFill>
                <a:latin typeface="맑은 고딕" panose="02110004020202020204"/>
                <a:ea typeface="맑은 고딕" panose="020B0503020000020004" pitchFamily="50" charset="-127"/>
              </a:rPr>
              <a:t>입찰 진행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C9A6D-E779-1A66-9EAC-5834B5461301}"/>
              </a:ext>
            </a:extLst>
          </p:cNvPr>
          <p:cNvSpPr txBox="1"/>
          <p:nvPr/>
        </p:nvSpPr>
        <p:spPr>
          <a:xfrm>
            <a:off x="6320468" y="2812431"/>
            <a:ext cx="2833500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성과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2.</a:t>
            </a:r>
          </a:p>
          <a:p>
            <a:pPr marL="0" marR="0" lvl="0" indent="0" algn="ct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불법파견 리스크 진단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69135B-FF86-9AE2-B115-F894B601D9EA}"/>
              </a:ext>
            </a:extLst>
          </p:cNvPr>
          <p:cNvSpPr txBox="1"/>
          <p:nvPr/>
        </p:nvSpPr>
        <p:spPr>
          <a:xfrm>
            <a:off x="10095978" y="3368480"/>
            <a:ext cx="19197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추후 기대 효과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ED2ACBD-8FBF-DF18-269C-7D536D082740}"/>
              </a:ext>
            </a:extLst>
          </p:cNvPr>
          <p:cNvSpPr/>
          <p:nvPr/>
        </p:nvSpPr>
        <p:spPr>
          <a:xfrm>
            <a:off x="3922894" y="4012426"/>
            <a:ext cx="349959" cy="34995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E3F3F40-F3E1-1DAA-F180-3E01BB46B6FC}"/>
              </a:ext>
            </a:extLst>
          </p:cNvPr>
          <p:cNvSpPr/>
          <p:nvPr/>
        </p:nvSpPr>
        <p:spPr>
          <a:xfrm>
            <a:off x="7562239" y="4012426"/>
            <a:ext cx="349959" cy="34995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3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B439637-1AF1-72DA-E84B-FD6774F8879A}"/>
              </a:ext>
            </a:extLst>
          </p:cNvPr>
          <p:cNvSpPr/>
          <p:nvPr/>
        </p:nvSpPr>
        <p:spPr>
          <a:xfrm>
            <a:off x="10964516" y="3993056"/>
            <a:ext cx="349959" cy="349959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4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3813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4CBFC8-C1C0-F519-AB05-B9C14F9360DD}"/>
              </a:ext>
            </a:extLst>
          </p:cNvPr>
          <p:cNvSpPr txBox="1"/>
          <p:nvPr/>
        </p:nvSpPr>
        <p:spPr>
          <a:xfrm>
            <a:off x="453138" y="230592"/>
            <a:ext cx="980551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강점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EC3A6F7-BD34-AAB9-5813-A32A3109B6EE}"/>
              </a:ext>
            </a:extLst>
          </p:cNvPr>
          <p:cNvCxnSpPr/>
          <p:nvPr/>
        </p:nvCxnSpPr>
        <p:spPr>
          <a:xfrm>
            <a:off x="1512712" y="316089"/>
            <a:ext cx="0" cy="489469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DD98F5B-4206-726D-1001-218CF44C0BC2}"/>
              </a:ext>
            </a:extLst>
          </p:cNvPr>
          <p:cNvSpPr txBox="1"/>
          <p:nvPr/>
        </p:nvSpPr>
        <p:spPr>
          <a:xfrm>
            <a:off x="1546578" y="351266"/>
            <a:ext cx="331893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이론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실무 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인사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총무 업무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0" name="원형: 비어 있음 19">
            <a:extLst>
              <a:ext uri="{FF2B5EF4-FFF2-40B4-BE49-F238E27FC236}">
                <a16:creationId xmlns:a16="http://schemas.microsoft.com/office/drawing/2014/main" id="{5B231163-C062-F07C-791B-AF0E59B4A180}"/>
              </a:ext>
            </a:extLst>
          </p:cNvPr>
          <p:cNvSpPr/>
          <p:nvPr/>
        </p:nvSpPr>
        <p:spPr>
          <a:xfrm>
            <a:off x="3759200" y="1363133"/>
            <a:ext cx="4131733" cy="4131733"/>
          </a:xfrm>
          <a:prstGeom prst="donut">
            <a:avLst>
              <a:gd name="adj" fmla="val 189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719FA19E-3E91-0BAE-4D79-3771ED9CB99C}"/>
              </a:ext>
            </a:extLst>
          </p:cNvPr>
          <p:cNvCxnSpPr>
            <a:cxnSpLocks/>
            <a:stCxn id="20" idx="0"/>
          </p:cNvCxnSpPr>
          <p:nvPr/>
        </p:nvCxnSpPr>
        <p:spPr>
          <a:xfrm>
            <a:off x="5825067" y="1363133"/>
            <a:ext cx="0" cy="793045"/>
          </a:xfrm>
          <a:prstGeom prst="line">
            <a:avLst/>
          </a:prstGeom>
          <a:ln>
            <a:solidFill>
              <a:srgbClr val="1024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183183F-023E-F4D7-B1B0-CEB44AF5586E}"/>
              </a:ext>
            </a:extLst>
          </p:cNvPr>
          <p:cNvCxnSpPr>
            <a:cxnSpLocks/>
          </p:cNvCxnSpPr>
          <p:nvPr/>
        </p:nvCxnSpPr>
        <p:spPr>
          <a:xfrm>
            <a:off x="6926857" y="4014049"/>
            <a:ext cx="647987" cy="474134"/>
          </a:xfrm>
          <a:prstGeom prst="line">
            <a:avLst/>
          </a:prstGeom>
          <a:ln>
            <a:solidFill>
              <a:srgbClr val="1024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22336C3E-0ADD-2C5E-EB5F-7B4243AC8981}"/>
              </a:ext>
            </a:extLst>
          </p:cNvPr>
          <p:cNvCxnSpPr>
            <a:cxnSpLocks/>
          </p:cNvCxnSpPr>
          <p:nvPr/>
        </p:nvCxnSpPr>
        <p:spPr>
          <a:xfrm flipV="1">
            <a:off x="4070767" y="3984979"/>
            <a:ext cx="647989" cy="503204"/>
          </a:xfrm>
          <a:prstGeom prst="line">
            <a:avLst/>
          </a:prstGeom>
          <a:ln>
            <a:solidFill>
              <a:srgbClr val="10245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1BB06BA9-F85C-7E17-E590-E5345FBA20EC}"/>
              </a:ext>
            </a:extLst>
          </p:cNvPr>
          <p:cNvCxnSpPr>
            <a:cxnSpLocks/>
          </p:cNvCxnSpPr>
          <p:nvPr/>
        </p:nvCxnSpPr>
        <p:spPr>
          <a:xfrm>
            <a:off x="575732" y="2009418"/>
            <a:ext cx="393982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30ED347-734E-B47F-28F1-91C32C87DE28}"/>
              </a:ext>
            </a:extLst>
          </p:cNvPr>
          <p:cNvSpPr txBox="1"/>
          <p:nvPr/>
        </p:nvSpPr>
        <p:spPr>
          <a:xfrm>
            <a:off x="541869" y="1598975"/>
            <a:ext cx="2573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1. </a:t>
            </a:r>
            <a:r>
              <a:rPr lang="ko-KR" altLang="en-US" sz="2000" b="1" dirty="0">
                <a:solidFill>
                  <a:schemeClr val="bg1"/>
                </a:solidFill>
              </a:rPr>
              <a:t>전문 교육 수료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7077ED-97BA-01B8-6C1E-A049FA1D62F3}"/>
              </a:ext>
            </a:extLst>
          </p:cNvPr>
          <p:cNvSpPr txBox="1"/>
          <p:nvPr/>
        </p:nvSpPr>
        <p:spPr>
          <a:xfrm>
            <a:off x="745059" y="2174706"/>
            <a:ext cx="4402670" cy="1491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불법파견 사업장 점검 대책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적법한 사내하도급 관리 실무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사내 도급 교육 수강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6DACEA75-1103-C180-E872-7EA6FDCF96E1}"/>
              </a:ext>
            </a:extLst>
          </p:cNvPr>
          <p:cNvCxnSpPr>
            <a:cxnSpLocks/>
          </p:cNvCxnSpPr>
          <p:nvPr/>
        </p:nvCxnSpPr>
        <p:spPr>
          <a:xfrm>
            <a:off x="7574844" y="2438400"/>
            <a:ext cx="384386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42CB6AE-3705-2A4C-5053-887AE3F7B800}"/>
              </a:ext>
            </a:extLst>
          </p:cNvPr>
          <p:cNvSpPr txBox="1"/>
          <p:nvPr/>
        </p:nvSpPr>
        <p:spPr>
          <a:xfrm>
            <a:off x="7636933" y="2027957"/>
            <a:ext cx="2573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2. </a:t>
            </a:r>
            <a:r>
              <a:rPr lang="ko-KR" altLang="en-US" sz="2000" b="1" dirty="0">
                <a:solidFill>
                  <a:schemeClr val="bg1"/>
                </a:solidFill>
              </a:rPr>
              <a:t>실무 경험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213D8B-C6B7-78F1-CC8A-14F6E39E646F}"/>
              </a:ext>
            </a:extLst>
          </p:cNvPr>
          <p:cNvSpPr txBox="1"/>
          <p:nvPr/>
        </p:nvSpPr>
        <p:spPr>
          <a:xfrm>
            <a:off x="7890933" y="2603688"/>
            <a:ext cx="4402670" cy="1491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도급 신규 입찰 진행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체크리스트 통한 리스크 진단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협력사 관리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사건사고 관리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107798A6-0E39-CD41-8600-1784D8FDB5C1}"/>
              </a:ext>
            </a:extLst>
          </p:cNvPr>
          <p:cNvCxnSpPr>
            <a:cxnSpLocks/>
          </p:cNvCxnSpPr>
          <p:nvPr/>
        </p:nvCxnSpPr>
        <p:spPr>
          <a:xfrm>
            <a:off x="575733" y="4705386"/>
            <a:ext cx="374791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12AF4A7D-A0A0-D0EE-4FD3-8A5A6D674B98}"/>
              </a:ext>
            </a:extLst>
          </p:cNvPr>
          <p:cNvSpPr txBox="1"/>
          <p:nvPr/>
        </p:nvSpPr>
        <p:spPr>
          <a:xfrm>
            <a:off x="541869" y="4294943"/>
            <a:ext cx="37479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3. </a:t>
            </a:r>
            <a:r>
              <a:rPr lang="ko-KR" altLang="en-US" sz="2000" b="1" dirty="0">
                <a:solidFill>
                  <a:schemeClr val="bg1"/>
                </a:solidFill>
              </a:rPr>
              <a:t>인사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  <a:r>
              <a:rPr lang="ko-KR" altLang="en-US" sz="2000" b="1" dirty="0">
                <a:solidFill>
                  <a:schemeClr val="bg1"/>
                </a:solidFill>
              </a:rPr>
              <a:t>총무 업무 경험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0A5009-85AD-67FD-9C43-73B758B6FEAE}"/>
              </a:ext>
            </a:extLst>
          </p:cNvPr>
          <p:cNvSpPr txBox="1"/>
          <p:nvPr/>
        </p:nvSpPr>
        <p:spPr>
          <a:xfrm>
            <a:off x="745060" y="4870674"/>
            <a:ext cx="4402670" cy="1491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법적 소송</a:t>
            </a:r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부당해고 소송</a:t>
            </a:r>
            <a:r>
              <a:rPr lang="en-US" altLang="ko-KR" sz="1600" dirty="0">
                <a:solidFill>
                  <a:schemeClr val="bg1"/>
                </a:solidFill>
              </a:rPr>
              <a:t>) </a:t>
            </a:r>
            <a:r>
              <a:rPr lang="ko-KR" altLang="en-US" sz="1600" dirty="0">
                <a:solidFill>
                  <a:schemeClr val="bg1"/>
                </a:solidFill>
              </a:rPr>
              <a:t>서포트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인감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및 계약관리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복리후생 관리</a:t>
            </a:r>
          </a:p>
        </p:txBody>
      </p:sp>
    </p:spTree>
    <p:extLst>
      <p:ext uri="{BB962C8B-B14F-4D97-AF65-F5344CB8AC3E}">
        <p14:creationId xmlns:p14="http://schemas.microsoft.com/office/powerpoint/2010/main" val="3351157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F5A9ED3-930D-71B4-49A1-0EDBA39FD36F}"/>
              </a:ext>
            </a:extLst>
          </p:cNvPr>
          <p:cNvSpPr txBox="1"/>
          <p:nvPr/>
        </p:nvSpPr>
        <p:spPr>
          <a:xfrm>
            <a:off x="453138" y="230592"/>
            <a:ext cx="1285351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성과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1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43D5170-A3C4-8A1C-0738-285ACB832625}"/>
              </a:ext>
            </a:extLst>
          </p:cNvPr>
          <p:cNvCxnSpPr/>
          <p:nvPr/>
        </p:nvCxnSpPr>
        <p:spPr>
          <a:xfrm>
            <a:off x="1512712" y="316089"/>
            <a:ext cx="0" cy="489469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544D69-36D5-5895-402F-06DAD0C364D3}"/>
              </a:ext>
            </a:extLst>
          </p:cNvPr>
          <p:cNvSpPr txBox="1"/>
          <p:nvPr/>
        </p:nvSpPr>
        <p:spPr>
          <a:xfrm>
            <a:off x="1546578" y="351266"/>
            <a:ext cx="331893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도급 입찰 진행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B29E5C-857E-FD6C-CE7B-C3A2F891A217}"/>
              </a:ext>
            </a:extLst>
          </p:cNvPr>
          <p:cNvSpPr txBox="1"/>
          <p:nvPr/>
        </p:nvSpPr>
        <p:spPr>
          <a:xfrm>
            <a:off x="453138" y="805558"/>
            <a:ext cx="7473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도급비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절감 목표로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매년 도급 입찰 새로 진행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F2E1126C-668F-505E-FFF2-3EA4E11D9479}"/>
              </a:ext>
            </a:extLst>
          </p:cNvPr>
          <p:cNvGrpSpPr/>
          <p:nvPr/>
        </p:nvGrpSpPr>
        <p:grpSpPr>
          <a:xfrm>
            <a:off x="453138" y="1620763"/>
            <a:ext cx="2935119" cy="3368680"/>
            <a:chOff x="453138" y="1487350"/>
            <a:chExt cx="2935119" cy="3368680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E604752-49FD-2AA2-324C-504474B74442}"/>
                </a:ext>
              </a:extLst>
            </p:cNvPr>
            <p:cNvSpPr txBox="1"/>
            <p:nvPr/>
          </p:nvSpPr>
          <p:spPr>
            <a:xfrm>
              <a:off x="453138" y="1487350"/>
              <a:ext cx="12853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[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역할 </a:t>
              </a: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]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A851EB6-0886-F6A9-A2DC-32D6EE56305F}"/>
                </a:ext>
              </a:extLst>
            </p:cNvPr>
            <p:cNvSpPr txBox="1"/>
            <p:nvPr/>
          </p:nvSpPr>
          <p:spPr>
            <a:xfrm>
              <a:off x="453138" y="1887460"/>
              <a:ext cx="2935119" cy="2968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-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입찰 전체 과정 진행</a:t>
              </a:r>
              <a:endPara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입찰 공문 발송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현장 설명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/PT 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진행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우선협상대상자 선정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단가 협의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계약 체결</a:t>
              </a:r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812B5FE2-1E0E-2179-84B3-B6DA49F0551F}"/>
              </a:ext>
            </a:extLst>
          </p:cNvPr>
          <p:cNvGrpSpPr/>
          <p:nvPr/>
        </p:nvGrpSpPr>
        <p:grpSpPr>
          <a:xfrm>
            <a:off x="4189757" y="1620763"/>
            <a:ext cx="7087843" cy="3606017"/>
            <a:chOff x="4189757" y="1490333"/>
            <a:chExt cx="7087843" cy="360601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CC4D922-F9BE-9EB9-12E4-7A56E3AD9A6A}"/>
                </a:ext>
              </a:extLst>
            </p:cNvPr>
            <p:cNvSpPr txBox="1"/>
            <p:nvPr/>
          </p:nvSpPr>
          <p:spPr>
            <a:xfrm>
              <a:off x="4189757" y="1490333"/>
              <a:ext cx="1286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[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성과 </a:t>
              </a: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]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59CBF57-84D6-8C70-8BF2-0979F1F42243}"/>
                </a:ext>
              </a:extLst>
            </p:cNvPr>
            <p:cNvSpPr txBox="1"/>
            <p:nvPr/>
          </p:nvSpPr>
          <p:spPr>
            <a:xfrm>
              <a:off x="6537054" y="2175647"/>
              <a:ext cx="8015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기존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326A2E2-291D-B24E-336B-A6F576453FBC}"/>
                </a:ext>
              </a:extLst>
            </p:cNvPr>
            <p:cNvSpPr txBox="1"/>
            <p:nvPr/>
          </p:nvSpPr>
          <p:spPr>
            <a:xfrm>
              <a:off x="9139140" y="2175647"/>
              <a:ext cx="9539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입찰 후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818AEE9-B911-A4C6-A285-D05895700044}"/>
                </a:ext>
              </a:extLst>
            </p:cNvPr>
            <p:cNvSpPr txBox="1"/>
            <p:nvPr/>
          </p:nvSpPr>
          <p:spPr>
            <a:xfrm>
              <a:off x="6242013" y="2857700"/>
              <a:ext cx="15689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7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개 업체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82DBB53D-DF3F-B879-F3C1-9C79A36D9CF9}"/>
                </a:ext>
              </a:extLst>
            </p:cNvPr>
            <p:cNvSpPr txBox="1"/>
            <p:nvPr/>
          </p:nvSpPr>
          <p:spPr>
            <a:xfrm>
              <a:off x="8985370" y="2857700"/>
              <a:ext cx="12614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6</a:t>
              </a: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개 업체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7C70DC6-55E2-9428-C704-2A52AD02467C}"/>
                </a:ext>
              </a:extLst>
            </p:cNvPr>
            <p:cNvSpPr txBox="1"/>
            <p:nvPr/>
          </p:nvSpPr>
          <p:spPr>
            <a:xfrm>
              <a:off x="6197600" y="3510513"/>
              <a:ext cx="1686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100 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65000"/>
                    </a:prstClr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억원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0A72061-7584-BF2C-619B-5A2F2094814D}"/>
                </a:ext>
              </a:extLst>
            </p:cNvPr>
            <p:cNvSpPr txBox="1"/>
            <p:nvPr/>
          </p:nvSpPr>
          <p:spPr>
            <a:xfrm>
              <a:off x="9072378" y="3510513"/>
              <a:ext cx="10874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92 </a:t>
              </a:r>
              <a:r>
                <a:rPr kumimoji="0" lang="ko-KR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억원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0FADF58-43E4-D4CB-7DE7-CE017D2102FC}"/>
                </a:ext>
              </a:extLst>
            </p:cNvPr>
            <p:cNvSpPr txBox="1"/>
            <p:nvPr/>
          </p:nvSpPr>
          <p:spPr>
            <a:xfrm>
              <a:off x="6184096" y="4226560"/>
              <a:ext cx="4700574" cy="8697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기존 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7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개 협력사 중 </a:t>
              </a:r>
              <a:r>
                <a:rPr kumimoji="0" lang="en-US" altLang="ko-K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4</a:t>
              </a: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개 업체 교체</a:t>
              </a:r>
              <a:endPara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부문 통합하여 관리 규모 축소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C5F7E84-DE18-C863-D7AE-9398CB560EE3}"/>
                </a:ext>
              </a:extLst>
            </p:cNvPr>
            <p:cNvSpPr txBox="1"/>
            <p:nvPr/>
          </p:nvSpPr>
          <p:spPr>
            <a:xfrm>
              <a:off x="4189757" y="2833048"/>
              <a:ext cx="12316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관리 규모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12B6A63-4C48-6914-AF77-9BF6E926617B}"/>
                </a:ext>
              </a:extLst>
            </p:cNvPr>
            <p:cNvSpPr txBox="1"/>
            <p:nvPr/>
          </p:nvSpPr>
          <p:spPr>
            <a:xfrm>
              <a:off x="4189757" y="3510513"/>
              <a:ext cx="14522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연간 </a:t>
              </a:r>
              <a:r>
                <a:rPr kumimoji="0" lang="ko-KR" altLang="en-US" sz="18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도급비</a:t>
              </a: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A15EAF1E-491B-E5DB-BEC3-566F437FD3C3}"/>
                </a:ext>
              </a:extLst>
            </p:cNvPr>
            <p:cNvSpPr txBox="1"/>
            <p:nvPr/>
          </p:nvSpPr>
          <p:spPr>
            <a:xfrm>
              <a:off x="4189757" y="4242418"/>
              <a:ext cx="1233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절감 방법</a:t>
              </a:r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BE3477D6-A1DC-98E4-F3C2-7BB99B5DB49B}"/>
                </a:ext>
              </a:extLst>
            </p:cNvPr>
            <p:cNvCxnSpPr/>
            <p:nvPr/>
          </p:nvCxnSpPr>
          <p:spPr>
            <a:xfrm>
              <a:off x="4189757" y="2652889"/>
              <a:ext cx="708784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217FF3AC-A2AB-2701-5C97-A1E3F1CAECF8}"/>
                </a:ext>
              </a:extLst>
            </p:cNvPr>
            <p:cNvCxnSpPr/>
            <p:nvPr/>
          </p:nvCxnSpPr>
          <p:spPr>
            <a:xfrm>
              <a:off x="4189757" y="3353806"/>
              <a:ext cx="708784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A60A38BE-4C10-8743-7AEB-511DBBD5C29B}"/>
                </a:ext>
              </a:extLst>
            </p:cNvPr>
            <p:cNvCxnSpPr/>
            <p:nvPr/>
          </p:nvCxnSpPr>
          <p:spPr>
            <a:xfrm>
              <a:off x="4189757" y="4054723"/>
              <a:ext cx="708784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D4D054D-2C86-2001-10BA-7CD925585B65}"/>
              </a:ext>
            </a:extLst>
          </p:cNvPr>
          <p:cNvSpPr/>
          <p:nvPr/>
        </p:nvSpPr>
        <p:spPr>
          <a:xfrm>
            <a:off x="516190" y="5556946"/>
            <a:ext cx="8578765" cy="10164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입찰 진행 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방법ㅣ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입찰 시 주의 사항 </a:t>
            </a:r>
            <a:r>
              <a:rPr kumimoji="0" lang="ko-KR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ㅣ</a:t>
            </a: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협상 스킬</a:t>
            </a:r>
          </a:p>
        </p:txBody>
      </p:sp>
    </p:spTree>
    <p:extLst>
      <p:ext uri="{BB962C8B-B14F-4D97-AF65-F5344CB8AC3E}">
        <p14:creationId xmlns:p14="http://schemas.microsoft.com/office/powerpoint/2010/main" val="1380757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F5A9ED3-930D-71B4-49A1-0EDBA39FD36F}"/>
              </a:ext>
            </a:extLst>
          </p:cNvPr>
          <p:cNvSpPr txBox="1"/>
          <p:nvPr/>
        </p:nvSpPr>
        <p:spPr>
          <a:xfrm>
            <a:off x="453138" y="230592"/>
            <a:ext cx="1285351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성과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2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743D5170-A3C4-8A1C-0738-285ACB832625}"/>
              </a:ext>
            </a:extLst>
          </p:cNvPr>
          <p:cNvCxnSpPr/>
          <p:nvPr/>
        </p:nvCxnSpPr>
        <p:spPr>
          <a:xfrm>
            <a:off x="1512712" y="316089"/>
            <a:ext cx="0" cy="489469"/>
          </a:xfrm>
          <a:prstGeom prst="line">
            <a:avLst/>
          </a:prstGeom>
          <a:ln w="31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544D69-36D5-5895-402F-06DAD0C364D3}"/>
              </a:ext>
            </a:extLst>
          </p:cNvPr>
          <p:cNvSpPr txBox="1"/>
          <p:nvPr/>
        </p:nvSpPr>
        <p:spPr>
          <a:xfrm>
            <a:off x="1546578" y="351266"/>
            <a:ext cx="3318934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불법파견 리스크 진단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B29E5C-857E-FD6C-CE7B-C3A2F891A217}"/>
              </a:ext>
            </a:extLst>
          </p:cNvPr>
          <p:cNvSpPr txBox="1"/>
          <p:nvPr/>
        </p:nvSpPr>
        <p:spPr>
          <a:xfrm>
            <a:off x="453138" y="805558"/>
            <a:ext cx="74732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불법파견 진단 체크리스트 활용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25000"/>
                    <a:lumOff val="75000"/>
                  </a:srgbClr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 위험 요소 확인 및 제거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027" name="그룹 1026">
            <a:extLst>
              <a:ext uri="{FF2B5EF4-FFF2-40B4-BE49-F238E27FC236}">
                <a16:creationId xmlns:a16="http://schemas.microsoft.com/office/drawing/2014/main" id="{F2E1126C-668F-505E-FFF2-3EA4E11D9479}"/>
              </a:ext>
            </a:extLst>
          </p:cNvPr>
          <p:cNvGrpSpPr/>
          <p:nvPr/>
        </p:nvGrpSpPr>
        <p:grpSpPr>
          <a:xfrm>
            <a:off x="453138" y="1869116"/>
            <a:ext cx="4570418" cy="2876237"/>
            <a:chOff x="453138" y="1487350"/>
            <a:chExt cx="2935119" cy="2876237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E604752-49FD-2AA2-324C-504474B74442}"/>
                </a:ext>
              </a:extLst>
            </p:cNvPr>
            <p:cNvSpPr txBox="1"/>
            <p:nvPr/>
          </p:nvSpPr>
          <p:spPr>
            <a:xfrm>
              <a:off x="453138" y="1487350"/>
              <a:ext cx="12853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[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역할 </a:t>
              </a: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]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A851EB6-0886-F6A9-A2DC-32D6EE56305F}"/>
                </a:ext>
              </a:extLst>
            </p:cNvPr>
            <p:cNvSpPr txBox="1"/>
            <p:nvPr/>
          </p:nvSpPr>
          <p:spPr>
            <a:xfrm>
              <a:off x="453138" y="1887460"/>
              <a:ext cx="2935119" cy="2476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-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각 업체별 리스크 진단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원청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 사업에의 실질적 편입 여부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600" dirty="0">
                  <a:solidFill>
                    <a:prstClr val="white"/>
                  </a:solidFill>
                  <a:latin typeface="맑은 고딕" panose="02110004020202020204"/>
                  <a:ea typeface="맑은 고딕" panose="020B0503020000020004" pitchFamily="50" charset="-127"/>
                </a:rPr>
                <a:t>상당한 지휘 명령 여부</a:t>
              </a:r>
              <a:endParaRPr lang="en-US" altLang="ko-KR" sz="1600" dirty="0">
                <a:solidFill>
                  <a:prstClr val="white"/>
                </a:solidFill>
                <a:latin typeface="맑은 고딕" panose="02110004020202020204"/>
                <a:ea typeface="맑은 고딕" panose="020B0503020000020004" pitchFamily="50" charset="-127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근로조건 등에 관한 </a:t>
              </a:r>
              <a:r>
                <a:rPr kumimoji="0" lang="ko-KR" altLang="en-US" sz="16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원청의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 결정권 행사 여부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600" dirty="0">
                  <a:solidFill>
                    <a:prstClr val="white"/>
                  </a:solidFill>
                  <a:latin typeface="맑은 고딕" panose="02110004020202020204"/>
                  <a:ea typeface="맑은 고딕" panose="020B0503020000020004" pitchFamily="50" charset="-127"/>
                </a:rPr>
                <a:t>사업주로서의 실체 판단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D4D054D-2C86-2001-10BA-7CD925585B65}"/>
              </a:ext>
            </a:extLst>
          </p:cNvPr>
          <p:cNvSpPr/>
          <p:nvPr/>
        </p:nvSpPr>
        <p:spPr>
          <a:xfrm>
            <a:off x="516190" y="5556946"/>
            <a:ext cx="8578765" cy="101649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불법 파견 리스크 제거 방법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C6B2ACD-F1A5-2913-0432-9DCBFC8610BD}"/>
              </a:ext>
            </a:extLst>
          </p:cNvPr>
          <p:cNvGrpSpPr/>
          <p:nvPr/>
        </p:nvGrpSpPr>
        <p:grpSpPr>
          <a:xfrm>
            <a:off x="5713757" y="1869116"/>
            <a:ext cx="5450953" cy="2876237"/>
            <a:chOff x="5713757" y="2012212"/>
            <a:chExt cx="5450953" cy="2876237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CC4D922-F9BE-9EB9-12E4-7A56E3AD9A6A}"/>
                </a:ext>
              </a:extLst>
            </p:cNvPr>
            <p:cNvSpPr txBox="1"/>
            <p:nvPr/>
          </p:nvSpPr>
          <p:spPr>
            <a:xfrm>
              <a:off x="5713758" y="2012212"/>
              <a:ext cx="128693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[ </a:t>
              </a:r>
              <a:r>
                <a:rPr kumimoji="0" lang="ko-KR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성과 </a:t>
              </a:r>
              <a:r>
                <a:rPr kumimoji="0" lang="en-US" altLang="ko-KR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]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52823CA-AE86-B37A-02BB-FBC0F4C4AC4A}"/>
                </a:ext>
              </a:extLst>
            </p:cNvPr>
            <p:cNvSpPr txBox="1"/>
            <p:nvPr/>
          </p:nvSpPr>
          <p:spPr>
            <a:xfrm>
              <a:off x="5713757" y="2412322"/>
              <a:ext cx="5450953" cy="24761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-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체크리스트 상 불법 파견 여부 </a:t>
              </a:r>
              <a:r>
                <a:rPr kumimoji="0" lang="en-US" altLang="ko-KR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0% </a:t>
              </a:r>
              <a:r>
                <a: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달성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작업장소 구분 조치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업무 분리 조치</a:t>
              </a:r>
              <a:r>
                <a:rPr kumimoji="0" lang="en-US" altLang="ko-K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유니폼 구분 조치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endParaRP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카카오톡 등 증거가 남는 업무 지시 방법 제거</a:t>
              </a:r>
              <a:endParaRPr lang="en-US" altLang="ko-KR" sz="1600" dirty="0">
                <a:solidFill>
                  <a:prstClr val="white"/>
                </a:solidFill>
                <a:latin typeface="맑은 고딕" panose="02110004020202020204"/>
                <a:ea typeface="맑은 고딕" panose="020B0503020000020004" pitchFamily="50" charset="-127"/>
              </a:endParaRPr>
            </a:p>
            <a:p>
              <a:pPr marL="285750" indent="-285750">
                <a:lnSpc>
                  <a:spcPct val="200000"/>
                </a:lnSpc>
                <a:buFont typeface="Arial" panose="020B0604020202020204" pitchFamily="34" charset="0"/>
                <a:buChar char="•"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110004020202020204"/>
                  <a:ea typeface="맑은 고딕" panose="020B0503020000020004" pitchFamily="50" charset="-127"/>
                  <a:cs typeface="+mn-cs"/>
                </a:rPr>
                <a:t>현장관리인 주체로 시방서 재작성 조치</a:t>
              </a:r>
              <a:endParaRPr lang="en-US" altLang="ko-KR" sz="1600" dirty="0">
                <a:solidFill>
                  <a:prstClr val="white"/>
                </a:solidFill>
                <a:latin typeface="맑은 고딕" panose="02110004020202020204"/>
                <a:ea typeface="맑은 고딕" panose="020B0503020000020004" pitchFamily="50" charset="-127"/>
              </a:endParaRPr>
            </a:p>
            <a:p>
              <a:pPr marL="285750" marR="0" lvl="0" indent="-285750" algn="l" defTabSz="914400" rtl="0" eaLnBrk="1" fontAlgn="auto" latinLnBrk="1" hangingPunct="1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ko-KR" altLang="en-US" sz="1600" dirty="0">
                  <a:solidFill>
                    <a:prstClr val="white"/>
                  </a:solidFill>
                  <a:latin typeface="맑은 고딕" panose="02110004020202020204"/>
                  <a:ea typeface="맑은 고딕" panose="020B0503020000020004" pitchFamily="50" charset="-127"/>
                </a:rPr>
                <a:t>사무실 분리</a:t>
              </a:r>
              <a:r>
                <a:rPr lang="en-US" altLang="ko-KR" sz="1600" dirty="0">
                  <a:solidFill>
                    <a:prstClr val="white"/>
                  </a:solidFill>
                  <a:latin typeface="맑은 고딕" panose="02110004020202020204"/>
                  <a:ea typeface="맑은 고딕" panose="020B0503020000020004" pitchFamily="50" charset="-127"/>
                </a:rPr>
                <a:t>(</a:t>
              </a:r>
              <a:r>
                <a:rPr lang="ko-KR" altLang="en-US" sz="1600" dirty="0">
                  <a:solidFill>
                    <a:prstClr val="white"/>
                  </a:solidFill>
                  <a:latin typeface="맑은 고딕" panose="02110004020202020204"/>
                  <a:ea typeface="맑은 고딕" panose="020B0503020000020004" pitchFamily="50" charset="-127"/>
                </a:rPr>
                <a:t>임대차 계약서 별도 작성</a:t>
              </a:r>
              <a:r>
                <a:rPr lang="en-US" altLang="ko-KR" sz="1600" dirty="0">
                  <a:solidFill>
                    <a:prstClr val="white"/>
                  </a:solidFill>
                  <a:latin typeface="맑은 고딕" panose="02110004020202020204"/>
                  <a:ea typeface="맑은 고딕" panose="020B0503020000020004" pitchFamily="50" charset="-127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17814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4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4CBFC8-C1C0-F519-AB05-B9C14F9360DD}"/>
              </a:ext>
            </a:extLst>
          </p:cNvPr>
          <p:cNvSpPr txBox="1"/>
          <p:nvPr/>
        </p:nvSpPr>
        <p:spPr>
          <a:xfrm>
            <a:off x="453138" y="230592"/>
            <a:ext cx="2515530" cy="574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b="1" dirty="0">
                <a:solidFill>
                  <a:prstClr val="white"/>
                </a:solidFill>
                <a:latin typeface="맑은 고딕" panose="02110004020202020204"/>
                <a:ea typeface="맑은 고딕" panose="020B0503020000020004" pitchFamily="50" charset="-127"/>
              </a:rPr>
              <a:t>추후 기대 효과</a:t>
            </a:r>
            <a:endParaRPr kumimoji="0" lang="en-US" altLang="ko-KR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9AE6BA49-660F-D4F1-F137-A727C1C5B1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8728579"/>
              </p:ext>
            </p:extLst>
          </p:nvPr>
        </p:nvGraphicFramePr>
        <p:xfrm>
          <a:off x="751502" y="1444980"/>
          <a:ext cx="5321920" cy="46905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05B3FBF-90B8-67D2-DD0F-02473D79C5CD}"/>
              </a:ext>
            </a:extLst>
          </p:cNvPr>
          <p:cNvSpPr/>
          <p:nvPr/>
        </p:nvSpPr>
        <p:spPr>
          <a:xfrm>
            <a:off x="7642578" y="2991908"/>
            <a:ext cx="3125195" cy="874183"/>
          </a:xfrm>
          <a:prstGeom prst="round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/>
              <a:t>기타 인사 업무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9703AC-94CE-F215-C63F-A4F73CB4CEAF}"/>
              </a:ext>
            </a:extLst>
          </p:cNvPr>
          <p:cNvSpPr txBox="1"/>
          <p:nvPr/>
        </p:nvSpPr>
        <p:spPr>
          <a:xfrm>
            <a:off x="6536268" y="2855719"/>
            <a:ext cx="2822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dirty="0">
                <a:solidFill>
                  <a:schemeClr val="bg1"/>
                </a:solidFill>
              </a:rPr>
              <a:t>+</a:t>
            </a:r>
            <a:endParaRPr lang="ko-KR" altLang="en-US" sz="6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49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</TotalTime>
  <Words>307</Words>
  <Application>Microsoft Office PowerPoint</Application>
  <PresentationFormat>와이드스크린</PresentationFormat>
  <Paragraphs>74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지현 윤</dc:creator>
  <cp:lastModifiedBy>윤 지현</cp:lastModifiedBy>
  <cp:revision>15</cp:revision>
  <cp:lastPrinted>2024-08-18T14:54:20Z</cp:lastPrinted>
  <dcterms:created xsi:type="dcterms:W3CDTF">2024-08-18T07:09:43Z</dcterms:created>
  <dcterms:modified xsi:type="dcterms:W3CDTF">2025-06-17T13:20:45Z</dcterms:modified>
</cp:coreProperties>
</file>